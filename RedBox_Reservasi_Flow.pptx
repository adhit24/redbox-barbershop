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7"/>
    <p:sldId id="267" r:id="rId18"/>
    <p:sldId id="268" r:id="rId19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1164031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1164031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548640"/>
            <a:ext cx="228600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48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RED BOX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2286000" cy="3200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17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BARBERSHOP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SISTEM RESERVASI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00000"/>
                </a:solidFill>
              </a:rPr>
              <a:t>RedBox Barbershop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749039"/>
            <a:ext cx="5486400" cy="45720"/>
          </a:xfrm>
          <a:prstGeom prst="rect">
            <a:avLst/>
          </a:prstGeom>
          <a:solidFill>
            <a:srgbClr val="6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Alur Booking Customer  ·  Tugas Admin per Cabang  ·  Flow Teknis Reservasi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66666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DDD"/>
                </a:solidFill>
              </a:rPr>
              <a:t>Topik yang akan dibahas dalam presentasi 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852160" cy="1097280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64008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640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6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611629"/>
            <a:ext cx="507492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12" b="1" i="0">
                <a:solidFill>
                  <a:srgbClr val="FFFFFF"/>
                </a:solidFill>
              </a:rPr>
              <a:t>Alur Booking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920240"/>
            <a:ext cx="5074920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3" b="0" i="0">
                <a:solidFill>
                  <a:srgbClr val="CCCCCC"/>
                </a:solidFill>
              </a:rPr>
              <a:t>Langkah-langkah customer dari website hingga booking terkonfirmasi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77490"/>
            <a:ext cx="5852160" cy="1097280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77490"/>
            <a:ext cx="64008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77490"/>
            <a:ext cx="640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6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880360"/>
            <a:ext cx="507492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12" b="1" i="0">
                <a:solidFill>
                  <a:srgbClr val="FFFFFF"/>
                </a:solidFill>
              </a:rPr>
              <a:t>Notifikasi WhatsApp Otomatis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188969"/>
            <a:ext cx="5074920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3" b="0" i="0">
                <a:solidFill>
                  <a:srgbClr val="CCCCCC"/>
                </a:solidFill>
              </a:rPr>
              <a:t>WA konfirmasi, reminder H-1, dan reminder 1 jam sebelum jadwal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46220"/>
            <a:ext cx="5852160" cy="1097280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046220"/>
            <a:ext cx="64008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46220"/>
            <a:ext cx="640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6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4149090"/>
            <a:ext cx="507492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12" b="1" i="0">
                <a:solidFill>
                  <a:srgbClr val="FFFFFF"/>
                </a:solidFill>
              </a:rPr>
              <a:t>Tugas Admin per Cabang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457699"/>
            <a:ext cx="5074920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3" b="0" i="0">
                <a:solidFill>
                  <a:srgbClr val="CCCCCC"/>
                </a:solidFill>
              </a:rPr>
              <a:t>Dashboard, notifikasi masuk, update status, dan koordinasi kapster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508760"/>
            <a:ext cx="5486400" cy="1097280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508760"/>
            <a:ext cx="64008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508760"/>
            <a:ext cx="640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6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1611629"/>
            <a:ext cx="47091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12" b="1" i="0">
                <a:solidFill>
                  <a:srgbClr val="FFFFFF"/>
                </a:solidFill>
              </a:rPr>
              <a:t>Flow Teknis Reservasi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1920240"/>
            <a:ext cx="4709160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3" b="0" i="0">
                <a:solidFill>
                  <a:srgbClr val="CCCCCC"/>
                </a:solidFill>
              </a:rPr>
              <a:t>Arsitektur sistem: API, database, Moka POS, dan Fonnte gateway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777490"/>
            <a:ext cx="5486400" cy="1097280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777490"/>
            <a:ext cx="64008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777490"/>
            <a:ext cx="640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6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2880360"/>
            <a:ext cx="47091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12" b="1" i="0">
                <a:solidFill>
                  <a:srgbClr val="FFFFFF"/>
                </a:solidFill>
              </a:rPr>
              <a:t>Sistem Reminder &amp; Cron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3188969"/>
            <a:ext cx="4709160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3" b="0" i="0">
                <a:solidFill>
                  <a:srgbClr val="CCCCCC"/>
                </a:solidFill>
              </a:rPr>
              <a:t>Cron jobs otomatis: H-1 reminder, remind-soon, expire stale bills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046220"/>
            <a:ext cx="5486400" cy="1097280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046220"/>
            <a:ext cx="64008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046220"/>
            <a:ext cx="640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6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4149090"/>
            <a:ext cx="47091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12" b="1" i="0">
                <a:solidFill>
                  <a:srgbClr val="FFFFFF"/>
                </a:solidFill>
              </a:rPr>
              <a:t>Status &amp; Lifecycle Booking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22592" y="4457699"/>
            <a:ext cx="4709160" cy="582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3" b="0" i="0">
                <a:solidFill>
                  <a:srgbClr val="CCCCCC"/>
                </a:solidFill>
              </a:rPr>
              <a:t>Status booking dari pending hingga done/cancel dan alur perubahannya</a:t>
            </a:r>
          </a:p>
        </p:txBody>
      </p:sp>
      <p:sp>
        <p:nvSpPr>
          <p:cNvPr id="201" name="R201"/>
          <p:cNvSpPr>
            <a:spLocks noGrp="1"/>
          </p:cNvSpPr>
          <p:nvPr/>
        </p:nvSpPr>
        <p:spPr>
          <a:xfrm>
            <a:off x="457200" y="5314950"/>
            <a:ext cx="5852160" cy="10972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R202"/>
          <p:cNvSpPr>
            <a:spLocks noGrp="1"/>
          </p:cNvSpPr>
          <p:nvPr/>
        </p:nvSpPr>
        <p:spPr>
          <a:xfrm>
            <a:off x="457200" y="5314950"/>
            <a:ext cx="640080" cy="10972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TextBox 202"/>
          <p:cNvSpPr txBox="1"/>
          <p:nvPr/>
        </p:nvSpPr>
        <p:spPr>
          <a:xfrm>
            <a:off x="457200" y="5314950"/>
            <a:ext cx="640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170432" y="5446623"/>
            <a:ext cx="490000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Alur Penerimaan Membership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1170432" y="5881589"/>
            <a:ext cx="49000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Onboarding member baru &amp; verifikasi member lama dari Moka POS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Alur Booking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DDD"/>
                </a:solidFill>
              </a:rPr>
              <a:t>Langkah dari buka website hingga booking terkonfirmasi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6635" y="1508760"/>
            <a:ext cx="1691640" cy="3474720"/>
          </a:xfrm>
          <a:prstGeom prst="rect">
            <a:avLst/>
          </a:prstGeom>
          <a:solidFill>
            <a:srgbClr val="444444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7" y="1673351"/>
            <a:ext cx="585216" cy="5852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7" y="1673351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" y="240487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Buka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" y="310896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</a:rPr>
              <a:t>redboxbarbershop.com
/booking.html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6563" y="30175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09444" y="1508760"/>
            <a:ext cx="1691640" cy="3474720"/>
          </a:xfrm>
          <a:prstGeom prst="rect">
            <a:avLst/>
          </a:prstGeom>
          <a:solidFill>
            <a:srgbClr val="444444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62656" y="1673351"/>
            <a:ext cx="585216" cy="5852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1673351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00884" y="240487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Pilih Layanan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0884" y="310896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</a:rPr>
              <a:t>26 layanan tersedia
(Haircut, Fade, Spa, dll)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9371" y="30175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2252" y="1508760"/>
            <a:ext cx="1691640" cy="3474720"/>
          </a:xfrm>
          <a:prstGeom prst="rect">
            <a:avLst/>
          </a:prstGeom>
          <a:solidFill>
            <a:srgbClr val="444444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55464" y="1673351"/>
            <a:ext cx="585216" cy="5852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1673351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3692" y="240487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Pilih Kapster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3692" y="310896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</a:rPr>
              <a:t>Daftar kapster aktif
per cabang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2179" y="30175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5060" y="1508760"/>
            <a:ext cx="1691640" cy="3474720"/>
          </a:xfrm>
          <a:prstGeom prst="rect">
            <a:avLst/>
          </a:prstGeom>
          <a:solidFill>
            <a:srgbClr val="444444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48272" y="1673351"/>
            <a:ext cx="585216" cy="5852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1673351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0" y="240487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Pilih Tanggal
&amp; Jam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0" y="310896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</a:rPr>
              <a:t>Slot real-time
(tidak bisa double)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4988" y="30175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7868" y="1508760"/>
            <a:ext cx="1691640" cy="3474720"/>
          </a:xfrm>
          <a:prstGeom prst="rect">
            <a:avLst/>
          </a:prstGeom>
          <a:solidFill>
            <a:srgbClr val="444444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1080" y="1673351"/>
            <a:ext cx="585216" cy="5852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1673351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9308" y="240487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Isi Data Diri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9308" y="310896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</a:rPr>
              <a:t>Nama lengkap
&amp; Nomor 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97796" y="30175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80676" y="1508760"/>
            <a:ext cx="1691640" cy="3474720"/>
          </a:xfrm>
          <a:prstGeom prst="rect">
            <a:avLst/>
          </a:prstGeom>
          <a:solidFill>
            <a:srgbClr val="444444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33888" y="1673351"/>
            <a:ext cx="585216" cy="5852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33888" y="1673351"/>
            <a:ext cx="58521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2116" y="2404872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Konfirmasi
Booking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72116" y="310896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BBBB"/>
                </a:solidFill>
              </a:rPr>
              <a:t>Klik Submit
→ Terkonfirmasi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5257800"/>
            <a:ext cx="10360152" cy="1371600"/>
          </a:xfrm>
          <a:prstGeom prst="rect">
            <a:avLst/>
          </a:prstGeom>
          <a:solidFill>
            <a:srgbClr val="006000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53766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✓  BOOKING CONFIRMED!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58338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FFCC"/>
                </a:solidFill>
              </a:rPr>
              <a:t>Halaman konfirmasi muncul · WA konfirmasi otomatis terkirim · Data tersimpan di sistem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Notifikasi WhatsApp Otomatis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DDD"/>
                </a:solidFill>
              </a:rPr>
              <a:t>3 titik pengiriman WA sepanjang lifecycle booking customer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3657600" cy="5074920"/>
          </a:xfrm>
          <a:prstGeom prst="rect">
            <a:avLst/>
          </a:prstGeom>
          <a:solidFill>
            <a:srgbClr val="444444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3657600" cy="47548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636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📲  Notif 1 — KONFIRMASI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EEAA"/>
                </a:solidFill>
              </a:rPr>
              <a:t>Dikirim: Saat booking berhasil dikonfirmasi (real-time)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9631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Nama customer + sapaan personal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36391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Detail layanan, harga, dan durasi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7647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Tanggal &amp; jam booking (format Indonesia)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165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Nama kapster yang dipilih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056631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Nama cabang RedBox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9671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Closing: "Ada yang mau ditanyain? aku siap bantu kapan aja! 💬"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4256" y="1508760"/>
            <a:ext cx="3657600" cy="5074920"/>
          </a:xfrm>
          <a:prstGeom prst="rect">
            <a:avLst/>
          </a:prstGeom>
          <a:solidFill>
            <a:srgbClr val="444444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4256" y="1508760"/>
            <a:ext cx="3657600" cy="475488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3984" y="15636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🔔  Notif 2 — REMINDER H-1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EEAA"/>
                </a:solidFill>
              </a:rPr>
              <a:t>Dikirim: Setiap hari jam 10:00 WIB (cron harian)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49631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Pengingat jadwal besok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136391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Detail tanggal, jam, layanan, kapster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377647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Nama cabang tujuan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44165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Pesan: 'Dateng tepat waktu ya kak'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1416" y="5056631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Berlaku untuk SEMUA cabang otomatis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1416" y="569671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Tidak dikirim jika status booking cancelled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1312" y="1508760"/>
            <a:ext cx="3657600" cy="5074920"/>
          </a:xfrm>
          <a:prstGeom prst="rect">
            <a:avLst/>
          </a:prstGeom>
          <a:solidFill>
            <a:srgbClr val="444444"/>
          </a:solidFill>
          <a:ln w="635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11312" y="1508760"/>
            <a:ext cx="3657600" cy="475488"/>
          </a:xfrm>
          <a:prstGeom prst="rect">
            <a:avLst/>
          </a:prstGeom>
          <a:solidFill>
            <a:srgbClr val="B8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56362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⏰  Notif 3 — REMIND-SOON (1 Jam Sebelum)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EEAA"/>
                </a:solidFill>
              </a:rPr>
              <a:t>Dikirim: Setiap jam :00 WIB via cron otomatis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249631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Pesan: '1 jam lagi kamu ada jadwal nih!'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3136391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Detail cabang, jam, layanan, kapster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377647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Pesan: 'Brangkat sekarang biar santai ya!'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441655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Customer bisa balas: jadi/telat/cancel/reschedule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5056631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AI bot merespons balasan secara otomatis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5696712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Aturan terlambat maks. 10-15 menit disertakan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Dashboard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DDD"/>
                </a:solidFill>
              </a:rPr>
              <a:t>Pusat kendali seluruh reservasi semua cabang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486400" cy="5074920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48640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361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🖥️  Fitur Dashboard 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5257800" cy="777240"/>
          </a:xfrm>
          <a:prstGeom prst="rect">
            <a:avLst/>
          </a:prstGeom>
          <a:solidFill>
            <a:srgbClr val="383838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0939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Lihat Semua Booking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4144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</a:rPr>
              <a:t>Tampilan tabel semua reservasi hari ini &amp; mendatang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44368"/>
            <a:ext cx="5257800" cy="777240"/>
          </a:xfrm>
          <a:prstGeom prst="rect">
            <a:avLst/>
          </a:prstGeom>
          <a:solidFill>
            <a:srgbClr val="383838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90087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809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Filter &amp; Cari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28415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</a:rPr>
              <a:t>Filter per cabang, kapster, tanggal, atau status booking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31335"/>
            <a:ext cx="5257800" cy="777240"/>
          </a:xfrm>
          <a:prstGeom prst="rect">
            <a:avLst/>
          </a:prstGeom>
          <a:solidFill>
            <a:srgbClr val="383838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77055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✏️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6791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Edit Booking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215383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</a:rPr>
              <a:t>Ubah layanan, tanggal, jam, kapster, atau catatan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18304"/>
            <a:ext cx="5257800" cy="777240"/>
          </a:xfrm>
          <a:prstGeom prst="rect">
            <a:avLst/>
          </a:prstGeom>
          <a:solidFill>
            <a:srgbClr val="383838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64024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754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Cancel 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1023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</a:rPr>
              <a:t>Batalkan booking dengan satu klik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05272"/>
            <a:ext cx="5257800" cy="777240"/>
          </a:xfrm>
          <a:prstGeom prst="rect">
            <a:avLst/>
          </a:prstGeom>
          <a:solidFill>
            <a:srgbClr val="383838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50992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6418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Update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98932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BBBB"/>
                </a:solidFill>
              </a:rPr>
              <a:t>Ubah status: pending → confirmed → done → cancel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508760"/>
            <a:ext cx="5577840" cy="5074920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1508760"/>
            <a:ext cx="5577840" cy="4114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5361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🔄  Alur Status Booking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2057400"/>
            <a:ext cx="1280160" cy="658368"/>
          </a:xfrm>
          <a:prstGeom prst="rect">
            <a:avLst/>
          </a:prstGeom>
          <a:solidFill>
            <a:srgbClr val="88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2057400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21488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Booking baru masuk, belum dikonfirmasi manual admin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6791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000"/>
                </a:solidFill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2898648"/>
            <a:ext cx="1280160" cy="65836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898648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299008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Booking dikonfirmasi, kapster disiapkan, WA terkirim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520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000"/>
                </a:solidFill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3739896"/>
            <a:ext cx="1280160" cy="6583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739896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3831335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Layanan selesai dilakukan di barbershop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3616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000"/>
                </a:solidFill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4581144"/>
            <a:ext cx="1280160" cy="658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581144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CANCELLED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4672583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Dibatalkan oleh customer atau admin (slot terbuka kembali)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2029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C000"/>
                </a:solidFill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5422392"/>
            <a:ext cx="1280160" cy="658368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422392"/>
            <a:ext cx="1280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NO_SHOW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20" y="5513831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Customer tidak hadir tanpa konfirmasi pembatalan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Tugas Admin per Cabang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DDD"/>
                </a:solidFill>
              </a:rPr>
              <a:t>Rutinitas harian admin di masing-masing cabang RedBox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148840" cy="6400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Bypass
(Pusat)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214884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📞 0818-202-569  |  🕐 10.00–22.00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508760"/>
            <a:ext cx="2148840" cy="6400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508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Samadikun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148840"/>
            <a:ext cx="214884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148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📞 0818-202-589  |  🕐 10.00–21.00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508760"/>
            <a:ext cx="2148840" cy="6400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508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CSB Mall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148840"/>
            <a:ext cx="214884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2148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📞 0818-202-889  |  🕐 10.00–21.00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508760"/>
            <a:ext cx="2148840" cy="640080"/>
          </a:xfrm>
          <a:prstGeom prst="rect">
            <a:avLst/>
          </a:prstGeom>
          <a:solidFill>
            <a:srgbClr val="005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1508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Sumber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148840"/>
            <a:ext cx="214884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148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📞 0818-202-599  |  🕐 10.00–21.00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508760"/>
            <a:ext cx="2148840" cy="640080"/>
          </a:xfrm>
          <a:prstGeom prst="rect">
            <a:avLst/>
          </a:prstGeom>
          <a:solidFill>
            <a:srgbClr val="2E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50876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Tegal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2148840"/>
            <a:ext cx="2148840" cy="3200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1488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📞 0818-268-883  |  🕐 10.00–21.00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606040"/>
            <a:ext cx="11430000" cy="3977639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2606040"/>
            <a:ext cx="11430000" cy="4114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624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📌  Tugas Harian Admin (Semua Cabang)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154680"/>
            <a:ext cx="5349240" cy="1463040"/>
          </a:xfrm>
          <a:prstGeom prst="rect">
            <a:avLst/>
          </a:prstGeom>
          <a:solidFill>
            <a:srgbClr val="383838"/>
          </a:solidFill>
          <a:ln w="381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3154680"/>
            <a:ext cx="534924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191256"/>
            <a:ext cx="5212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🌅  Buka Hari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3557016"/>
            <a:ext cx="5166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Cek jadwal booking masuk via WA notifikasi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3895344"/>
            <a:ext cx="5166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Pastikan kapster hadir sesuai jadwal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" y="4233672"/>
            <a:ext cx="5166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Konfirmasi booking pending jika ada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154680"/>
            <a:ext cx="5349240" cy="1463040"/>
          </a:xfrm>
          <a:prstGeom prst="rect">
            <a:avLst/>
          </a:prstGeom>
          <a:solidFill>
            <a:srgbClr val="383838"/>
          </a:solidFill>
          <a:ln w="381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154680"/>
            <a:ext cx="534924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191256"/>
            <a:ext cx="5212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📲  Saat Booking Masuk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3557016"/>
            <a:ext cx="5166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Terima notif WA: nama, layanan, jam, cabang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3895344"/>
            <a:ext cx="5166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Cek ketersediaan slot di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233672"/>
            <a:ext cx="5166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Update status ke CONFIRMED jika belum otomatis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4800600"/>
            <a:ext cx="5349240" cy="1463040"/>
          </a:xfrm>
          <a:prstGeom prst="rect">
            <a:avLst/>
          </a:prstGeom>
          <a:solidFill>
            <a:srgbClr val="383838"/>
          </a:solidFill>
          <a:ln w="381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" y="4800600"/>
            <a:ext cx="534924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837176"/>
            <a:ext cx="5212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⚡  Saat Customer Datang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" y="5202936"/>
            <a:ext cx="5166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Cek nama customer di daftar booking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5541264"/>
            <a:ext cx="5166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Arahkan ke kapster yang sudah dijadwalkan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5879592"/>
            <a:ext cx="5166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Update status ke DONE setelah selesai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800600"/>
            <a:ext cx="5349240" cy="1463040"/>
          </a:xfrm>
          <a:prstGeom prst="rect">
            <a:avLst/>
          </a:prstGeom>
          <a:solidFill>
            <a:srgbClr val="383838"/>
          </a:solidFill>
          <a:ln w="3810">
            <a:solidFill>
              <a:srgbClr val="6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4800600"/>
            <a:ext cx="5349240" cy="32918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837176"/>
            <a:ext cx="52120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🔄  Reschedule / Cancel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9088" y="5202936"/>
            <a:ext cx="5166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Terima permintaan via WA atau langsung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5541264"/>
            <a:ext cx="5166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Update di dashboard admin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5879592"/>
            <a:ext cx="5166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Slot terbuka otomatis untuk booking lain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Flow Teknis Reservasi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DDD"/>
                </a:solidFill>
              </a:rPr>
              <a:t>Arsitektur sistem end-to-end dari form ke database ke WA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1920240" cy="1828800"/>
          </a:xfrm>
          <a:prstGeom prst="rect">
            <a:avLst/>
          </a:prstGeom>
          <a:solidFill>
            <a:srgbClr val="006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🌐
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</a:rPr>
              <a:t>booking.html
Form submit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00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1600200"/>
            <a:ext cx="1920240" cy="1828800"/>
          </a:xfrm>
          <a:prstGeom prst="rect">
            <a:avLst/>
          </a:prstGeom>
          <a:solidFill>
            <a:srgbClr val="00508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7373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⚙️
API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56032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</a:rPr>
              <a:t>POST /api/bookings
Validasi + overlap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00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9744" y="1600200"/>
            <a:ext cx="1920240" cy="1828800"/>
          </a:xfrm>
          <a:prstGeom prst="rect">
            <a:avLst/>
          </a:prstGeom>
          <a:solidFill>
            <a:srgbClr val="60008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9744" y="17373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🗄️
Supabase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3" y="256032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</a:rPr>
              <a:t>Insert bookings
Upsert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0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86016" y="1600200"/>
            <a:ext cx="1920240" cy="18288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17373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📱
Fonnte WA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455" y="256032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</a:rPr>
              <a:t>WA konfirmasi
+ Admin notif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000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1600200"/>
            <a:ext cx="1920240" cy="1828800"/>
          </a:xfrm>
          <a:prstGeom prst="rect">
            <a:avLst/>
          </a:prstGeom>
          <a:solidFill>
            <a:srgbClr val="805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62288" y="173736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🏪
Moka POS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56032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EEEEE"/>
                </a:solidFill>
              </a:rPr>
              <a:t>Bridge ke schedules
Sync jadwal kapster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49039"/>
            <a:ext cx="2560320" cy="2834640"/>
          </a:xfrm>
          <a:prstGeom prst="rect">
            <a:avLst/>
          </a:prstGeom>
          <a:solidFill>
            <a:srgbClr val="444444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49039"/>
            <a:ext cx="2560320" cy="34747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7673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📋  Validasi Booking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8795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Semua field wajib diisi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Format WA valid (digit only)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8523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Tidak ada overlap jadwal kapster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3387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Status langsung CONFIRMED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56432" y="3749039"/>
            <a:ext cx="2560320" cy="2834640"/>
          </a:xfrm>
          <a:prstGeom prst="rect">
            <a:avLst/>
          </a:prstGeom>
          <a:solidFill>
            <a:srgbClr val="444444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56432" y="3749039"/>
            <a:ext cx="2560320" cy="34747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7872" y="37673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🔒  Anti Double Booking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7872" y="418795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Cek overlap barber × waktu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473659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Legacy bookings juga dicek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528523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Moka open bills diblock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47872" y="583387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Stale bills expire otomatis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55664" y="3749039"/>
            <a:ext cx="2560320" cy="2834640"/>
          </a:xfrm>
          <a:prstGeom prst="rect">
            <a:avLst/>
          </a:prstGeom>
          <a:solidFill>
            <a:srgbClr val="444444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55664" y="3749039"/>
            <a:ext cx="2560320" cy="34747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47103" y="37673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📨  WA Gateway (Fonnte)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3" y="418795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Normalisasi nomor 8xxx → 628xxx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7103" y="473659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Token device 0818-202-569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3" y="528523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Kirim konfirmasi &amp; admin notif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47103" y="583387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Sama dipakai AI bot &amp; reminder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454896" y="3749039"/>
            <a:ext cx="2560320" cy="2834640"/>
          </a:xfrm>
          <a:prstGeom prst="rect">
            <a:avLst/>
          </a:prstGeom>
          <a:solidFill>
            <a:srgbClr val="444444"/>
          </a:solidFill>
          <a:ln w="381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454896" y="3749039"/>
            <a:ext cx="2560320" cy="34747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46336" y="37673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🏪  Moka POS Sync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46336" y="418795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Bridge booking ke schedules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46336" y="473659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Tandai slot kapster busy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46336" y="528523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GoShow blocks expire 1-4 jam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46336" y="5833872"/>
            <a:ext cx="2423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✓ Cron expire setiap 15 menit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Sistem Reminder &amp; Cron Otomatis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DDD"/>
                </a:solidFill>
              </a:rPr>
              <a:t>4 cron jobs yang berjalan otomatis di Vercel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" y="1508760"/>
            <a:ext cx="2743200" cy="5074920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1508760"/>
            <a:ext cx="2743200" cy="6400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2704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⏰  Remind-Soon
(1 Jam Sebelum)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148840"/>
            <a:ext cx="27432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16712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DDFF"/>
                </a:solidFill>
              </a:rPr>
              <a:t>Jadwal:  Setiap jam :00 WIB
Endpoint: /api/cron/remind-soon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6148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Mencari booking dengan jam = jam berikutnya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0156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Kirim WA: '1 jam lagi ada jadwal kamu!'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4164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Include: cabang, jam, layanan, kapster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81727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Customer bisa balas: jadi / telat / cancel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2180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AI bot merespons balasan secara otomatis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4992" y="1508760"/>
            <a:ext cx="2743200" cy="5074920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4992" y="1508760"/>
            <a:ext cx="2743200" cy="64008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52704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📅  Reminder H-1
(Sehari Sebelum)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4992" y="2148840"/>
            <a:ext cx="27432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216712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DDFF"/>
                </a:solidFill>
              </a:rPr>
              <a:t>Jadwal:  Setiap hari jam 10:00 WIB
Endpoint: /api/cron/reminders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76148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Mencari semua booking besok (semua cabang)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40156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Kirim WA reminder dengan detail jadwal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04164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Include: tanggal, jam, layanan, kapster, cabang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681727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Tidak dikirim jika booking sudah cancelled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32180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Berlaku otomatis untuk 5 cabang sekaligus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1072" y="1508760"/>
            <a:ext cx="2743200" cy="5074920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91072" y="1508760"/>
            <a:ext cx="27432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152704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🗑️  Expire Stale Bills
(Moka GoShow)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2148840"/>
            <a:ext cx="27432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216712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DDFF"/>
                </a:solidFill>
              </a:rPr>
              <a:t>Jadwal:  Setiap 15 menit
Endpoint: /api/cron/expire-stale-bills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76148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Expire null-barber blocks jika end_time+1j lewat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40156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Expire null-barber blocks jika created_at+2j lewat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04164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Expire per-barber blocks jika end_time+4j lewat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681727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Mencegah GoShow Moka blokir slot lintas hari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32180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Configurable via env: MOKA_OPENBILL_STALE_HOURS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17152" y="1508760"/>
            <a:ext cx="2743200" cy="5074920"/>
          </a:xfrm>
          <a:prstGeom prst="rect">
            <a:avLst/>
          </a:prstGeom>
          <a:solidFill>
            <a:srgbClr val="44444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17152" y="1508760"/>
            <a:ext cx="2743200" cy="640080"/>
          </a:xfrm>
          <a:prstGeom prst="rect">
            <a:avLst/>
          </a:prstGeom>
          <a:solidFill>
            <a:srgbClr val="6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08592" y="1527048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🎂  Birthday Reminder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7152" y="2148840"/>
            <a:ext cx="27432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08592" y="216712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DDFF"/>
                </a:solidFill>
              </a:rPr>
              <a:t>Jadwal:  Setiap hari jam 08:00 WIB
Endpoint: /api/cron/birthday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276148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Cek customer dengan ulang tahun hari ini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40156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Kirim WA ucapan ulang tahun personal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04164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Optionally: sertakan promo ulang tahun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4681727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Data ulang tahun dari tabel customers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5321808"/>
            <a:ext cx="25603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• Fire-and-forget, non-blocking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Lifecycle &amp; Status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DDD"/>
                </a:solidFill>
              </a:rPr>
              <a:t>Alur perubahan status dari booking dibuat hingga selesai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600200" cy="914400"/>
          </a:xfrm>
          <a:prstGeom prst="rect">
            <a:avLst/>
          </a:prstGeom>
          <a:solidFill>
            <a:srgbClr val="00B05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0551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Booking dibuat
via website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73552"/>
            <a:ext cx="160020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7355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C000"/>
                </a:solidFill>
              </a:rPr>
              <a:t>Real-time
saat submit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1645920"/>
            <a:ext cx="1600200" cy="914400"/>
          </a:xfrm>
          <a:prstGeom prst="rect">
            <a:avLst/>
          </a:prstGeom>
          <a:solidFill>
            <a:srgbClr val="0070C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164592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WA KONFIRMASI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9352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6517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Terkirim ke
customer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3273552"/>
            <a:ext cx="160020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327355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C000"/>
                </a:solidFill>
              </a:rPr>
              <a:t>Detik setelah
booking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645920"/>
            <a:ext cx="1600200" cy="914400"/>
          </a:xfrm>
          <a:prstGeom prst="rect">
            <a:avLst/>
          </a:prstGeom>
          <a:solidFill>
            <a:srgbClr val="FF7B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164592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REMINDER H-1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88152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6517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WA reminder
sehari sebelum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273552"/>
            <a:ext cx="160020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327355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C000"/>
                </a:solidFill>
              </a:rPr>
              <a:t>10:00 WIB
H-1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645920"/>
            <a:ext cx="1600200" cy="914400"/>
          </a:xfrm>
          <a:prstGeom prst="rect">
            <a:avLst/>
          </a:prstGeom>
          <a:solidFill>
            <a:srgbClr val="FFC0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164592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</a:rPr>
              <a:t>REMIND-SOON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6952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6517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WA '1 jam lagi'
ke customer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3273552"/>
            <a:ext cx="160020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327355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C000"/>
                </a:solidFill>
              </a:rPr>
              <a:t>1 jam
sebelum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1645920"/>
            <a:ext cx="1600200" cy="914400"/>
          </a:xfrm>
          <a:prstGeom prst="rect">
            <a:avLst/>
          </a:prstGeom>
          <a:solidFill>
            <a:srgbClr val="00568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164592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CUSTOMER
DATANG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6517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Kapster siap
melayani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3273552"/>
            <a:ext cx="160020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327355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C000"/>
                </a:solidFill>
              </a:rPr>
              <a:t>Sesuai
jam booking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46920" y="1645920"/>
            <a:ext cx="1600200" cy="914400"/>
          </a:xfrm>
          <a:prstGeom prst="rect">
            <a:avLst/>
          </a:prstGeom>
          <a:solidFill>
            <a:srgbClr val="00B05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46920" y="1645920"/>
            <a:ext cx="1600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26517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Layanan selesai
Admin update status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6920" y="3273552"/>
            <a:ext cx="1600200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46920" y="3273552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C000"/>
                </a:solidFill>
              </a:rPr>
              <a:t>Saat layanan
selesai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023360"/>
            <a:ext cx="114300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Alternatif Status: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572000"/>
            <a:ext cx="5394960" cy="777240"/>
          </a:xfrm>
          <a:prstGeom prst="rect">
            <a:avLst/>
          </a:prstGeom>
          <a:solidFill>
            <a:srgbClr val="353535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4572000"/>
            <a:ext cx="1463040" cy="7772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572000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CANCELLED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466344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Customer atau admin batalkan sebelum layanan · Slot terbuka kembali otomatis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4572000"/>
            <a:ext cx="5394960" cy="777240"/>
          </a:xfrm>
          <a:prstGeom prst="rect">
            <a:avLst/>
          </a:prstGeom>
          <a:solidFill>
            <a:srgbClr val="353535"/>
          </a:solidFill>
          <a:ln w="1905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4572000"/>
            <a:ext cx="1463040" cy="77724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4572000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NO_SHOW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18119" y="466344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Customer tidak hadir tanpa konfirmasi · Admin mark secara manual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532120"/>
            <a:ext cx="11430000" cy="1051560"/>
          </a:xfrm>
          <a:prstGeom prst="rect">
            <a:avLst/>
          </a:prstGeom>
          <a:solidFill>
            <a:srgbClr val="003555"/>
          </a:solidFill>
          <a:ln w="12700">
            <a:solidFill>
              <a:srgbClr val="00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55778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💬  AI Bot WhatsApp (Reddy)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96188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FF"/>
                </a:solidFill>
              </a:rPr>
              <a:t>Merespons balasan customer terhadap reminder secara otomatis:
• Konfirmasi hadir → '"Sip, ditunggu kak!" + aturan keterlambatan'
• Telat/macet → empati + aturan terlambat maks 10-15 menit'
• Cancel → empati + tawarkan reschedule via link booking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337560"/>
            <a:ext cx="117317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RINGKASAN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00000"/>
                </a:solidFill>
              </a:rPr>
              <a:t>RedBox Barbershop Reservation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3474720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474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Booking via website — 6 langkah mudah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95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Slot real-time tanpa double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714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Terima 3x WA otomatis (konfirmasi, H-1, 1jam)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828800"/>
            <a:ext cx="3474720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828800"/>
            <a:ext cx="3474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Terima notif WA setiap booking baru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995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Kelola di dashboard: edit/cancel/update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4714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Koordinasi kapster per cabang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828800"/>
            <a:ext cx="3474720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34747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Sistem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20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4 cron otomatis: reminder, expire, birthday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9959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Integrasi Moka POS untuk slot kapster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4714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 AI bot WA Reddy merespons 24/7</a:t>
            </a:r>
          </a:p>
          <a:p>
            <a:r>
              <a:rPr sz="800"/>
              <a:t/>
            </a:r>
          </a:p>
          <a:p>
            <a:r>
              <a:rPr sz="1400" b="1">
                <a:solidFill>
                  <a:srgbClr val="FFDDDD"/>
                </a:solidFill>
              </a:rPr>
              <a:t>Membership</a:t>
            </a:r>
          </a:p>
          <a:p>
            <a:r>
              <a:rPr sz="1100" b="0">
                <a:solidFill>
                  <a:srgbClr val="CCCCCC"/>
                </a:solidFill>
              </a:rPr>
              <a:t>→  Login OTP via WhatsApp — tanpa password, mudah &amp; aman</a:t>
            </a:r>
          </a:p>
          <a:p>
            <a:r>
              <a:rPr sz="1100" b="0">
                <a:solidFill>
                  <a:srgbClr val="CCCCCC"/>
                </a:solidFill>
              </a:rPr>
              <a:t>→  Tier otomatis: Bronze / Silver / Gold / Platinum</a:t>
            </a:r>
          </a:p>
          <a:p>
            <a:r>
              <a:rPr sz="1100" b="0">
                <a:solidFill>
                  <a:srgbClr val="CCCCCC"/>
                </a:solidFill>
              </a:rPr>
              <a:t>→  Poin per kunjungan · bisa lihat di member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731752" cy="4572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897880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redboxbarbershop.com  ·  WA Bypass: 0818-202-569  ·  5 Cabang di Cirebon &amp; Tegal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3" name="R203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R204"/>
          <p:cNvSpPr>
            <a:spLocks noGrp="1"/>
          </p:cNvSpPr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R205"/>
          <p:cNvSpPr>
            <a:spLocks noGrp="1"/>
          </p:cNvSpPr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R206"/>
          <p:cNvSpPr>
            <a:spLocks noGrp="1"/>
          </p:cNvSpPr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TextBox 206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Alur Penerimaan Membership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DD"/>
                </a:solidFill>
              </a:rPr>
              <a:t>Dua jalur utama: Member Baru vs Member yang Data-nya Sudah Ada di Moka</a:t>
            </a:r>
          </a:p>
        </p:txBody>
      </p:sp>
      <p:sp>
        <p:nvSpPr>
          <p:cNvPr id="207" name="R207"/>
          <p:cNvSpPr>
            <a:spLocks noGrp="1"/>
          </p:cNvSpPr>
          <p:nvPr/>
        </p:nvSpPr>
        <p:spPr>
          <a:xfrm>
            <a:off x="457200" y="1420000"/>
            <a:ext cx="5530000" cy="5318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R208"/>
          <p:cNvSpPr>
            <a:spLocks noGrp="1"/>
          </p:cNvSpPr>
          <p:nvPr/>
        </p:nvSpPr>
        <p:spPr>
          <a:xfrm>
            <a:off x="457200" y="1420000"/>
            <a:ext cx="5530000" cy="700000"/>
          </a:xfrm>
          <a:prstGeom prst="rect">
            <a:avLst/>
          </a:prstGeom>
          <a:solidFill>
            <a:srgbClr val="3D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TextBox 208"/>
          <p:cNvSpPr txBox="1"/>
          <p:nvPr/>
        </p:nvSpPr>
        <p:spPr>
          <a:xfrm>
            <a:off x="557200" y="1500000"/>
            <a:ext cx="533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🆕  MEMBER BARU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57200" y="1940000"/>
            <a:ext cx="533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DDDD"/>
                </a:solidFill>
              </a:rPr>
              <a:t>Pelanggan yang belum pernah tercatat di sistem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557200" y="2200000"/>
            <a:ext cx="5330000" cy="44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CCCCC"/>
                </a:solidFill>
              </a:rPr>
              <a:t>📋  Langkah Admin:</a:t>
            </a:r>
          </a:p>
          <a:p>
            <a:r>
              <a:rPr sz="1100" b="0">
                <a:solidFill>
                  <a:srgbClr val="CCCCCC"/>
                </a:solidFill>
              </a:rPr>
              <a:t/>
            </a:r>
          </a:p>
          <a:p>
            <a:r>
              <a:rPr sz="1100" b="0">
                <a:solidFill>
                  <a:srgbClr val="CCCCCC"/>
                </a:solidFill>
              </a:rPr>
              <a:t>1. Tanya nama lengkap &amp; nomor WhatsApp</a:t>
            </a:r>
          </a:p>
          <a:p>
            <a:r>
              <a:rPr sz="1100" b="0">
                <a:solidFill>
                  <a:srgbClr val="CCCCCC"/>
                </a:solidFill>
              </a:rPr>
              <a:t>2. Cek nomor WA di sistem → pastikan belum terdaftar</a:t>
            </a:r>
          </a:p>
          <a:p>
            <a:r>
              <a:rPr sz="1100" b="0">
                <a:solidFill>
                  <a:srgbClr val="CCCCCC"/>
                </a:solidFill>
              </a:rPr>
              <a:t>3. Input data: nama, nomor WA, tgl lahir, email</a:t>
            </a:r>
          </a:p>
          <a:p>
            <a:r>
              <a:rPr sz="1100" b="0">
                <a:solidFill>
                  <a:srgbClr val="CCCCCC"/>
                </a:solidFill>
              </a:rPr>
              <a:t>4. Proses pembayaran aktivasi Rp100.000 di kasir</a:t>
            </a:r>
          </a:p>
          <a:p>
            <a:r>
              <a:rPr sz="1100" b="0">
                <a:solidFill>
                  <a:srgbClr val="CCCCCC"/>
                </a:solidFill>
              </a:rPr>
              <a:t>5. Aktifkan membership di dashboard admin</a:t>
            </a:r>
          </a:p>
          <a:p>
            <a:r>
              <a:rPr sz="1100" b="0">
                <a:solidFill>
                  <a:srgbClr val="CCCCCC"/>
                </a:solidFill>
              </a:rPr>
              <a:t>   → status berubah ACTIVE, 50 poin bonus masuk</a:t>
            </a:r>
          </a:p>
          <a:p>
            <a:r>
              <a:rPr sz="1100" b="0">
                <a:solidFill>
                  <a:srgbClr val="CCCCCC"/>
                </a:solidFill>
              </a:rPr>
              <a:t>6. Ajarkan cara login: buka website → Member Login</a:t>
            </a:r>
          </a:p>
          <a:p>
            <a:r>
              <a:rPr sz="1100" b="0">
                <a:solidFill>
                  <a:srgbClr val="CCCCCC"/>
                </a:solidFill>
              </a:rPr>
              <a:t>7. Masukkan nomor WA → terima OTP via WhatsApp</a:t>
            </a:r>
          </a:p>
          <a:p>
            <a:r>
              <a:rPr sz="1100" b="0">
                <a:solidFill>
                  <a:srgbClr val="CCCCCC"/>
                </a:solidFill>
              </a:rPr>
              <a:t/>
            </a:r>
          </a:p>
          <a:p>
            <a:r>
              <a:rPr sz="1100" b="1">
                <a:solidFill>
                  <a:srgbClr val="CCCCCC"/>
                </a:solidFill>
              </a:rPr>
              <a:t>🎁  Setelah aktivasi:</a:t>
            </a:r>
          </a:p>
          <a:p>
            <a:r>
              <a:rPr sz="1100" b="0">
                <a:solidFill>
                  <a:srgbClr val="CCCCCC"/>
                </a:solidFill>
              </a:rPr>
              <a:t>• Status: ACTIVE  |  Tier awal: BRONZE</a:t>
            </a:r>
          </a:p>
          <a:p>
            <a:r>
              <a:rPr sz="1100" b="0">
                <a:solidFill>
                  <a:srgbClr val="CCCCCC"/>
                </a:solidFill>
              </a:rPr>
              <a:t>• 50 poin bonus langsung dikreditkan</a:t>
            </a:r>
          </a:p>
          <a:p>
            <a:r>
              <a:rPr sz="1100" b="0">
                <a:solidFill>
                  <a:srgbClr val="CCCCCC"/>
                </a:solidFill>
              </a:rPr>
              <a:t>• Bisa akses dashboard: poin, riwayat, reservasi</a:t>
            </a:r>
          </a:p>
        </p:txBody>
      </p:sp>
      <p:sp>
        <p:nvSpPr>
          <p:cNvPr id="209" name="R209"/>
          <p:cNvSpPr>
            <a:spLocks noGrp="1"/>
          </p:cNvSpPr>
          <p:nvPr/>
        </p:nvSpPr>
        <p:spPr>
          <a:xfrm>
            <a:off x="6200000" y="1420000"/>
            <a:ext cx="5738952" cy="5318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R210"/>
          <p:cNvSpPr>
            <a:spLocks noGrp="1"/>
          </p:cNvSpPr>
          <p:nvPr/>
        </p:nvSpPr>
        <p:spPr>
          <a:xfrm>
            <a:off x="6200000" y="1420000"/>
            <a:ext cx="5738952" cy="700000"/>
          </a:xfrm>
          <a:prstGeom prst="rect">
            <a:avLst/>
          </a:prstGeom>
          <a:solidFill>
            <a:srgbClr val="0033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TextBox 211"/>
          <p:cNvSpPr txBox="1"/>
          <p:nvPr/>
        </p:nvSpPr>
        <p:spPr>
          <a:xfrm>
            <a:off x="6300000" y="1500000"/>
            <a:ext cx="5538952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🔄  MEMBER DARI MOKA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6300000" y="1940000"/>
            <a:ext cx="5538952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FFAA"/>
                </a:solidFill>
              </a:rPr>
              <a:t>Sudah pernah transaksi — data otomatis ter-sync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300000" y="2200000"/>
            <a:ext cx="5538952" cy="44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CCCCC"/>
                </a:solidFill>
              </a:rPr>
              <a:t>📋  Langkah Admin:</a:t>
            </a:r>
          </a:p>
          <a:p>
            <a:r>
              <a:rPr sz="1100" b="0">
                <a:solidFill>
                  <a:srgbClr val="CCCCCC"/>
                </a:solidFill>
              </a:rPr>
              <a:t/>
            </a:r>
          </a:p>
          <a:p>
            <a:r>
              <a:rPr sz="1100" b="0">
                <a:solidFill>
                  <a:srgbClr val="CCCCCC"/>
                </a:solidFill>
              </a:rPr>
              <a:t>1. Tanya nomor WhatsApp customer</a:t>
            </a:r>
          </a:p>
          <a:p>
            <a:r>
              <a:rPr sz="1100" b="0">
                <a:solidFill>
                  <a:srgbClr val="CCCCCC"/>
                </a:solidFill>
              </a:rPr>
              <a:t>2. Cek sistem → data kunjungan sudah tercatat</a:t>
            </a:r>
          </a:p>
          <a:p>
            <a:r>
              <a:rPr sz="1100" b="0">
                <a:solidFill>
                  <a:srgbClr val="CCCCCC"/>
                </a:solidFill>
              </a:rPr>
              <a:t>3. Konfirmasi nama &amp; riwayat kunjungan sudah benar</a:t>
            </a:r>
          </a:p>
          <a:p>
            <a:r>
              <a:rPr sz="1100" b="0">
                <a:solidFill>
                  <a:srgbClr val="CCCCCC"/>
                </a:solidFill>
              </a:rPr>
              <a:t>4. Jika belum member → tawarkan aktivasi Rp100.000</a:t>
            </a:r>
          </a:p>
          <a:p>
            <a:r>
              <a:rPr sz="1100" b="0">
                <a:solidFill>
                  <a:srgbClr val="CCCCCC"/>
                </a:solidFill>
              </a:rPr>
              <a:t>5. Aktifkan membership di dashboard admin</a:t>
            </a:r>
          </a:p>
          <a:p>
            <a:r>
              <a:rPr sz="1100" b="0">
                <a:solidFill>
                  <a:srgbClr val="CCCCCC"/>
                </a:solidFill>
              </a:rPr>
              <a:t>   → riwayat Moka otomatis terhitung ke poin</a:t>
            </a:r>
          </a:p>
          <a:p>
            <a:r>
              <a:rPr sz="1100" b="0">
                <a:solidFill>
                  <a:srgbClr val="CCCCCC"/>
                </a:solidFill>
              </a:rPr>
              <a:t>6. Ajarkan cara login: buka website → Member Login</a:t>
            </a:r>
          </a:p>
          <a:p>
            <a:r>
              <a:rPr sz="1100" b="0">
                <a:solidFill>
                  <a:srgbClr val="CCCCCC"/>
                </a:solidFill>
              </a:rPr>
              <a:t>7. Masukkan nomor WA → OTP dikirim ke WhatsApp</a:t>
            </a:r>
          </a:p>
          <a:p>
            <a:r>
              <a:rPr sz="1100" b="0">
                <a:solidFill>
                  <a:srgbClr val="CCCCCC"/>
                </a:solidFill>
              </a:rPr>
              <a:t/>
            </a:r>
          </a:p>
          <a:p>
            <a:r>
              <a:rPr sz="1100" b="1">
                <a:solidFill>
                  <a:srgbClr val="CCCCCC"/>
                </a:solidFill>
              </a:rPr>
              <a:t>✅  Keuntungan:</a:t>
            </a:r>
          </a:p>
          <a:p>
            <a:r>
              <a:rPr sz="1100" b="0">
                <a:solidFill>
                  <a:srgbClr val="CCCCCC"/>
                </a:solidFill>
              </a:rPr>
              <a:t>• Riwayat kunjungan &amp; poin otomatis terisi dari Moka</a:t>
            </a:r>
          </a:p>
          <a:p>
            <a:r>
              <a:rPr sz="1100" b="0">
                <a:solidFill>
                  <a:srgbClr val="CCCCCC"/>
                </a:solidFill>
              </a:rPr>
              <a:t>• Tier langsung sesuai jumlah kunjungan historis</a:t>
            </a:r>
          </a:p>
          <a:p>
            <a:r>
              <a:rPr sz="1100" b="0">
                <a:solidFill>
                  <a:srgbClr val="CCCCCC"/>
                </a:solidFill>
              </a:rPr>
              <a:t>• Tidak perlu input ulang data dari awal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1" name="R211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R212"/>
          <p:cNvSpPr>
            <a:spLocks noGrp="1"/>
          </p:cNvSpPr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R213"/>
          <p:cNvSpPr>
            <a:spLocks noGrp="1"/>
          </p:cNvSpPr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R214"/>
          <p:cNvSpPr>
            <a:spLocks noGrp="1"/>
          </p:cNvSpPr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TextBox 214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Cara Login Member via WhatsApp OTP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DD"/>
                </a:solidFill>
              </a:rPr>
              <a:t>Langkah yang wajib admin ajarkan ke setiap member baru</a:t>
            </a:r>
          </a:p>
        </p:txBody>
      </p:sp>
      <p:sp>
        <p:nvSpPr>
          <p:cNvPr id="215" name="R215"/>
          <p:cNvSpPr>
            <a:spLocks noGrp="1"/>
          </p:cNvSpPr>
          <p:nvPr/>
        </p:nvSpPr>
        <p:spPr>
          <a:xfrm>
            <a:off x="457200" y="1520000"/>
            <a:ext cx="2246350" cy="3400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R216"/>
          <p:cNvSpPr>
            <a:spLocks noGrp="1"/>
          </p:cNvSpPr>
          <p:nvPr/>
        </p:nvSpPr>
        <p:spPr>
          <a:xfrm>
            <a:off x="457200" y="1520000"/>
            <a:ext cx="2246350" cy="7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TextBox 216"/>
          <p:cNvSpPr txBox="1"/>
          <p:nvPr/>
        </p:nvSpPr>
        <p:spPr>
          <a:xfrm>
            <a:off x="457200" y="1550000"/>
            <a:ext cx="224635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708550" y="1720000"/>
            <a:ext cx="9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</a:rPr>
              <a:t>▶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17200" y="2240000"/>
            <a:ext cx="212635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ADDFF"/>
                </a:solidFill>
              </a:rPr>
              <a:t>🌐</a:t>
            </a:r>
          </a:p>
          <a:p>
            <a:r>
              <a:rPr sz="1300" b="1">
                <a:solidFill>
                  <a:srgbClr val="AADDFF"/>
                </a:solidFill>
              </a:rPr>
              <a:t>Buka Website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17200" y="2900000"/>
            <a:ext cx="212635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redboxbarbershop.com</a:t>
            </a:r>
          </a:p>
          <a:p>
            <a:r>
              <a:rPr sz="1000" b="0">
                <a:solidFill>
                  <a:srgbClr val="CCCCCC"/>
                </a:solidFill>
              </a:rPr>
              <a:t/>
            </a:r>
          </a:p>
          <a:p>
            <a:r>
              <a:rPr sz="1000" b="0">
                <a:solidFill>
                  <a:srgbClr val="CCCCCC"/>
                </a:solidFill>
              </a:rPr>
              <a:t>→ Klik tombol</a:t>
            </a:r>
          </a:p>
          <a:p>
            <a:r>
              <a:rPr sz="1000" b="0">
                <a:solidFill>
                  <a:srgbClr val="CCCCCC"/>
                </a:solidFill>
              </a:rPr>
              <a:t>"Member Login"</a:t>
            </a:r>
          </a:p>
          <a:p>
            <a:r>
              <a:rPr sz="1000" b="0">
                <a:solidFill>
                  <a:srgbClr val="CCCCCC"/>
                </a:solidFill>
              </a:rPr>
              <a:t>di pojok kanan atas</a:t>
            </a:r>
          </a:p>
        </p:txBody>
      </p:sp>
      <p:sp>
        <p:nvSpPr>
          <p:cNvPr id="217" name="R217"/>
          <p:cNvSpPr>
            <a:spLocks noGrp="1"/>
          </p:cNvSpPr>
          <p:nvPr/>
        </p:nvSpPr>
        <p:spPr>
          <a:xfrm>
            <a:off x="2753550" y="1520000"/>
            <a:ext cx="2246350" cy="3400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R218"/>
          <p:cNvSpPr>
            <a:spLocks noGrp="1"/>
          </p:cNvSpPr>
          <p:nvPr/>
        </p:nvSpPr>
        <p:spPr>
          <a:xfrm>
            <a:off x="2753550" y="1520000"/>
            <a:ext cx="2246350" cy="7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TextBox 220"/>
          <p:cNvSpPr txBox="1"/>
          <p:nvPr/>
        </p:nvSpPr>
        <p:spPr>
          <a:xfrm>
            <a:off x="2753550" y="1550000"/>
            <a:ext cx="224635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5004900" y="1720000"/>
            <a:ext cx="9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</a:rPr>
              <a:t>▶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813550" y="2240000"/>
            <a:ext cx="212635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ADDFF"/>
                </a:solidFill>
              </a:rPr>
              <a:t>📱</a:t>
            </a:r>
          </a:p>
          <a:p>
            <a:r>
              <a:rPr sz="1300" b="1">
                <a:solidFill>
                  <a:srgbClr val="AADDFF"/>
                </a:solidFill>
              </a:rPr>
              <a:t>Masukkan</a:t>
            </a:r>
          </a:p>
          <a:p>
            <a:r>
              <a:rPr sz="1300" b="1">
                <a:solidFill>
                  <a:srgbClr val="AADDFF"/>
                </a:solidFill>
              </a:rPr>
              <a:t>Nomor WA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813550" y="2900000"/>
            <a:ext cx="212635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Ketik nomor WA:</a:t>
            </a:r>
          </a:p>
          <a:p>
            <a:r>
              <a:rPr sz="1000" b="0">
                <a:solidFill>
                  <a:srgbClr val="CCCCCC"/>
                </a:solidFill>
              </a:rPr>
              <a:t>• Format 08xxx</a:t>
            </a:r>
          </a:p>
          <a:p>
            <a:r>
              <a:rPr sz="1000" b="0">
                <a:solidFill>
                  <a:srgbClr val="CCCCCC"/>
                </a:solidFill>
              </a:rPr>
              <a:t>• atau 62xxx</a:t>
            </a:r>
          </a:p>
          <a:p>
            <a:r>
              <a:rPr sz="1000" b="0">
                <a:solidFill>
                  <a:srgbClr val="CCCCCC"/>
                </a:solidFill>
              </a:rPr>
              <a:t/>
            </a:r>
          </a:p>
          <a:p>
            <a:r>
              <a:rPr sz="1000" b="0">
                <a:solidFill>
                  <a:srgbClr val="CCCCCC"/>
                </a:solidFill>
              </a:rPr>
              <a:t>→ Klik "Kirim OTP"</a:t>
            </a:r>
          </a:p>
        </p:txBody>
      </p:sp>
      <p:sp>
        <p:nvSpPr>
          <p:cNvPr id="219" name="R219"/>
          <p:cNvSpPr>
            <a:spLocks noGrp="1"/>
          </p:cNvSpPr>
          <p:nvPr/>
        </p:nvSpPr>
        <p:spPr>
          <a:xfrm>
            <a:off x="5049900" y="1520000"/>
            <a:ext cx="2246350" cy="3400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R220"/>
          <p:cNvSpPr>
            <a:spLocks noGrp="1"/>
          </p:cNvSpPr>
          <p:nvPr/>
        </p:nvSpPr>
        <p:spPr>
          <a:xfrm>
            <a:off x="5049900" y="1520000"/>
            <a:ext cx="2246350" cy="7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TextBox 224"/>
          <p:cNvSpPr txBox="1"/>
          <p:nvPr/>
        </p:nvSpPr>
        <p:spPr>
          <a:xfrm>
            <a:off x="5049900" y="1550000"/>
            <a:ext cx="224635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7301250" y="1720000"/>
            <a:ext cx="9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</a:rPr>
              <a:t>▶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5109900" y="2240000"/>
            <a:ext cx="212635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ADDFF"/>
                </a:solidFill>
              </a:rPr>
              <a:t>📨</a:t>
            </a:r>
          </a:p>
          <a:p>
            <a:r>
              <a:rPr sz="1300" b="1">
                <a:solidFill>
                  <a:srgbClr val="AADDFF"/>
                </a:solidFill>
              </a:rPr>
              <a:t>Terima</a:t>
            </a:r>
          </a:p>
          <a:p>
            <a:r>
              <a:rPr sz="1300" b="1">
                <a:solidFill>
                  <a:srgbClr val="AADDFF"/>
                </a:solidFill>
              </a:rPr>
              <a:t>Kode OTP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109900" y="2900000"/>
            <a:ext cx="212635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Kode 6 digit</a:t>
            </a:r>
          </a:p>
          <a:p>
            <a:r>
              <a:rPr sz="1000" b="0">
                <a:solidFill>
                  <a:srgbClr val="CCCCCC"/>
                </a:solidFill>
              </a:rPr>
              <a:t>dikirim ke WA</a:t>
            </a:r>
          </a:p>
          <a:p>
            <a:r>
              <a:rPr sz="1000" b="0">
                <a:solidFill>
                  <a:srgbClr val="CCCCCC"/>
                </a:solidFill>
              </a:rPr>
              <a:t>dalam 1 menit</a:t>
            </a:r>
          </a:p>
          <a:p>
            <a:r>
              <a:rPr sz="1000" b="0">
                <a:solidFill>
                  <a:srgbClr val="CCCCCC"/>
                </a:solidFill>
              </a:rPr>
              <a:t/>
            </a:r>
          </a:p>
          <a:p>
            <a:r>
              <a:rPr sz="1000" b="0">
                <a:solidFill>
                  <a:srgbClr val="CCCCCC"/>
                </a:solidFill>
              </a:rPr>
              <a:t>Berlaku 10 menit</a:t>
            </a:r>
          </a:p>
          <a:p>
            <a:r>
              <a:rPr sz="1000" b="0">
                <a:solidFill>
                  <a:srgbClr val="CCCCCC"/>
                </a:solidFill>
              </a:rPr>
              <a:t>Maks 3x / 10 mnt</a:t>
            </a:r>
          </a:p>
        </p:txBody>
      </p:sp>
      <p:sp>
        <p:nvSpPr>
          <p:cNvPr id="221" name="R221"/>
          <p:cNvSpPr>
            <a:spLocks noGrp="1"/>
          </p:cNvSpPr>
          <p:nvPr/>
        </p:nvSpPr>
        <p:spPr>
          <a:xfrm>
            <a:off x="7346250" y="1520000"/>
            <a:ext cx="2246350" cy="3400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R222"/>
          <p:cNvSpPr>
            <a:spLocks noGrp="1"/>
          </p:cNvSpPr>
          <p:nvPr/>
        </p:nvSpPr>
        <p:spPr>
          <a:xfrm>
            <a:off x="7346250" y="1520000"/>
            <a:ext cx="2246350" cy="7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TextBox 228"/>
          <p:cNvSpPr txBox="1"/>
          <p:nvPr/>
        </p:nvSpPr>
        <p:spPr>
          <a:xfrm>
            <a:off x="7346250" y="1550000"/>
            <a:ext cx="224635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9597600" y="1720000"/>
            <a:ext cx="9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</a:rPr>
              <a:t>▶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406250" y="2240000"/>
            <a:ext cx="212635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ADDFF"/>
                </a:solidFill>
              </a:rPr>
              <a:t>🔑</a:t>
            </a:r>
          </a:p>
          <a:p>
            <a:r>
              <a:rPr sz="1300" b="1">
                <a:solidFill>
                  <a:srgbClr val="AADDFF"/>
                </a:solidFill>
              </a:rPr>
              <a:t>Masukkan</a:t>
            </a:r>
          </a:p>
          <a:p>
            <a:r>
              <a:rPr sz="1300" b="1">
                <a:solidFill>
                  <a:srgbClr val="AADDFF"/>
                </a:solidFill>
              </a:rPr>
              <a:t>Kode OTP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406250" y="2900000"/>
            <a:ext cx="212635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Ketik 6 digit kode</a:t>
            </a:r>
          </a:p>
          <a:p>
            <a:r>
              <a:rPr sz="1000" b="0">
                <a:solidFill>
                  <a:srgbClr val="CCCCCC"/>
                </a:solidFill>
              </a:rPr>
              <a:t>di kolom yang</a:t>
            </a:r>
          </a:p>
          <a:p>
            <a:r>
              <a:rPr sz="1000" b="0">
                <a:solidFill>
                  <a:srgbClr val="CCCCCC"/>
                </a:solidFill>
              </a:rPr>
              <a:t>tersedia</a:t>
            </a:r>
          </a:p>
          <a:p>
            <a:r>
              <a:rPr sz="1000" b="0">
                <a:solidFill>
                  <a:srgbClr val="CCCCCC"/>
                </a:solidFill>
              </a:rPr>
              <a:t/>
            </a:r>
          </a:p>
          <a:p>
            <a:r>
              <a:rPr sz="1000" b="0">
                <a:solidFill>
                  <a:srgbClr val="CCCCCC"/>
                </a:solidFill>
              </a:rPr>
              <a:t>→ Klik "Verifikasi"</a:t>
            </a:r>
          </a:p>
        </p:txBody>
      </p:sp>
      <p:sp>
        <p:nvSpPr>
          <p:cNvPr id="223" name="R223"/>
          <p:cNvSpPr>
            <a:spLocks noGrp="1"/>
          </p:cNvSpPr>
          <p:nvPr/>
        </p:nvSpPr>
        <p:spPr>
          <a:xfrm>
            <a:off x="9642600" y="1520000"/>
            <a:ext cx="2246350" cy="3400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R224"/>
          <p:cNvSpPr>
            <a:spLocks noGrp="1"/>
          </p:cNvSpPr>
          <p:nvPr/>
        </p:nvSpPr>
        <p:spPr>
          <a:xfrm>
            <a:off x="9642600" y="1520000"/>
            <a:ext cx="2246350" cy="7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TextBox 232"/>
          <p:cNvSpPr txBox="1"/>
          <p:nvPr/>
        </p:nvSpPr>
        <p:spPr>
          <a:xfrm>
            <a:off x="9642600" y="1550000"/>
            <a:ext cx="224635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9702600" y="2240000"/>
            <a:ext cx="212635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ADDFF"/>
                </a:solidFill>
              </a:rPr>
              <a:t>✅</a:t>
            </a:r>
          </a:p>
          <a:p>
            <a:r>
              <a:rPr sz="1300" b="1">
                <a:solidFill>
                  <a:srgbClr val="AADDFF"/>
                </a:solidFill>
              </a:rPr>
              <a:t>Login</a:t>
            </a:r>
          </a:p>
          <a:p>
            <a:r>
              <a:rPr sz="1300" b="1">
                <a:solidFill>
                  <a:srgbClr val="AADDFF"/>
                </a:solidFill>
              </a:rPr>
              <a:t>Berhasil!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9702600" y="2900000"/>
            <a:ext cx="2126350" cy="1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CCCC"/>
                </a:solidFill>
              </a:rPr>
              <a:t>Dashboard member</a:t>
            </a:r>
          </a:p>
          <a:p>
            <a:r>
              <a:rPr sz="1000" b="0">
                <a:solidFill>
                  <a:srgbClr val="CCCCCC"/>
                </a:solidFill>
              </a:rPr>
              <a:t>terbuka:</a:t>
            </a:r>
          </a:p>
          <a:p>
            <a:r>
              <a:rPr sz="1000" b="0">
                <a:solidFill>
                  <a:srgbClr val="CCCCCC"/>
                </a:solidFill>
              </a:rPr>
              <a:t>• Poin &amp; Tier</a:t>
            </a:r>
          </a:p>
          <a:p>
            <a:r>
              <a:rPr sz="1000" b="0">
                <a:solidFill>
                  <a:srgbClr val="CCCCCC"/>
                </a:solidFill>
              </a:rPr>
              <a:t>• Riwayat kunjungan</a:t>
            </a:r>
          </a:p>
          <a:p>
            <a:r>
              <a:rPr sz="1000" b="0">
                <a:solidFill>
                  <a:srgbClr val="CCCCCC"/>
                </a:solidFill>
              </a:rPr>
              <a:t>• Booking aktif</a:t>
            </a:r>
          </a:p>
          <a:p>
            <a:r>
              <a:rPr sz="1000" b="0">
                <a:solidFill>
                  <a:srgbClr val="CCCCCC"/>
                </a:solidFill>
              </a:rPr>
              <a:t>• Promo eksklusif</a:t>
            </a:r>
          </a:p>
        </p:txBody>
      </p:sp>
      <p:sp>
        <p:nvSpPr>
          <p:cNvPr id="225" name="R225"/>
          <p:cNvSpPr>
            <a:spLocks noGrp="1"/>
          </p:cNvSpPr>
          <p:nvPr/>
        </p:nvSpPr>
        <p:spPr>
          <a:xfrm>
            <a:off x="457200" y="5080000"/>
            <a:ext cx="11481752" cy="1678000"/>
          </a:xfrm>
          <a:prstGeom prst="rect">
            <a:avLst/>
          </a:prstGeom>
          <a:solidFill>
            <a:srgbClr val="441111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TextBox 235"/>
          <p:cNvSpPr txBox="1"/>
          <p:nvPr/>
        </p:nvSpPr>
        <p:spPr>
          <a:xfrm>
            <a:off x="557200" y="5160000"/>
            <a:ext cx="11281752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AAA"/>
                </a:solidFill>
              </a:rPr>
              <a:t>⚠️  Troubleshooting — "Nomor tidak terdaftar":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57200" y="5500000"/>
            <a:ext cx="11281752" cy="1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CCCC"/>
                </a:solidFill>
              </a:rPr>
              <a:t>→ Pastikan format nomor WA sudah benar (08xxx / 62xxx / 8xxx)</a:t>
            </a:r>
          </a:p>
          <a:p>
            <a:r>
              <a:rPr sz="1100" b="0">
                <a:solidFill>
                  <a:srgbClr val="FFCCCC"/>
                </a:solidFill>
              </a:rPr>
              <a:t>→ Cek di dashboard admin apakah data customer sudah diinput di sistem</a:t>
            </a:r>
          </a:p>
          <a:p>
            <a:r>
              <a:rPr sz="1100" b="0">
                <a:solidFill>
                  <a:srgbClr val="FFCCCC"/>
                </a:solidFill>
              </a:rPr>
              <a:t>→ Belum ada? → Daftarkan manual sebagai member baru di admin → aktifkan membership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6" name="R226"/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R227"/>
          <p:cNvSpPr>
            <a:spLocks noGrp="1"/>
          </p:cNvSpPr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R228"/>
          <p:cNvSpPr>
            <a:spLocks noGrp="1"/>
          </p:cNvSpPr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R229"/>
          <p:cNvSpPr>
            <a:spLocks noGrp="1"/>
          </p:cNvSpPr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TextBox 229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Skrip Admin &amp; Sistem Tier Membership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57200" y="685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DD"/>
                </a:solidFill>
              </a:rPr>
              <a:t>Kalimat siap pakai untuk admin saat menjelaskan membership ke pelanggan</a:t>
            </a:r>
          </a:p>
        </p:txBody>
      </p:sp>
      <p:sp>
        <p:nvSpPr>
          <p:cNvPr id="230" name="R230"/>
          <p:cNvSpPr>
            <a:spLocks noGrp="1"/>
          </p:cNvSpPr>
          <p:nvPr/>
        </p:nvSpPr>
        <p:spPr>
          <a:xfrm>
            <a:off x="457200" y="1420000"/>
            <a:ext cx="5700000" cy="5338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R231"/>
          <p:cNvSpPr>
            <a:spLocks noGrp="1"/>
          </p:cNvSpPr>
          <p:nvPr/>
        </p:nvSpPr>
        <p:spPr>
          <a:xfrm>
            <a:off x="457200" y="1420000"/>
            <a:ext cx="5700000" cy="580000"/>
          </a:xfrm>
          <a:prstGeom prst="rect">
            <a:avLst/>
          </a:prstGeom>
          <a:solidFill>
            <a:srgbClr val="4433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TextBox 231"/>
          <p:cNvSpPr txBox="1"/>
          <p:nvPr/>
        </p:nvSpPr>
        <p:spPr>
          <a:xfrm>
            <a:off x="557200" y="1490000"/>
            <a:ext cx="5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EE99"/>
                </a:solidFill>
              </a:rPr>
              <a:t>💬  Skrip Admin — Penjelasan ke Pelanggan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57200" y="2040000"/>
            <a:ext cx="5500000" cy="46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CCCCCC"/>
                </a:solidFill>
              </a:rPr>
              <a:t>— Untuk Member Lama (data sudah ada di Moka) —</a:t>
            </a:r>
          </a:p>
          <a:p>
            <a:r>
              <a:rPr sz="1000" b="0">
                <a:solidFill>
                  <a:srgbClr val="CCCCCC"/>
                </a:solidFill>
              </a:rPr>
              <a:t>"Halo Kak, boleh minta nomor WhatsApp-nya?"</a:t>
            </a:r>
          </a:p>
          <a:p>
            <a:r>
              <a:rPr sz="1000" b="0">
                <a:solidFill>
                  <a:srgbClr val="CCCCCC"/>
                </a:solidFill>
              </a:rPr>
              <a:t>"Nomor kakak sudah ada di sistem kami dari kunjungan sebelumnya."</a:t>
            </a:r>
          </a:p>
          <a:p>
            <a:r>
              <a:rPr sz="1000" b="0">
                <a:solidFill>
                  <a:srgbClr val="CCCCCC"/>
                </a:solidFill>
              </a:rPr>
              <a:t>"Tinggal buka redboxbarbershop.com, klik 'Member Login'."</a:t>
            </a:r>
          </a:p>
          <a:p>
            <a:r>
              <a:rPr sz="1000" b="0">
                <a:solidFill>
                  <a:srgbClr val="CCCCCC"/>
                </a:solidFill>
              </a:rPr>
              <a:t>"Masukkan nomor WA, nanti kode OTP dikirim ke WhatsApp."</a:t>
            </a:r>
          </a:p>
          <a:p>
            <a:r>
              <a:rPr sz="1000" b="0">
                <a:solidFill>
                  <a:srgbClr val="CCCCCC"/>
                </a:solidFill>
              </a:rPr>
              <a:t>"Masukkan kodenya dan langsung bisa lihat poin &amp; riwayat kunjungan."</a:t>
            </a:r>
          </a:p>
          <a:p>
            <a:r>
              <a:rPr sz="1000" b="0">
                <a:solidFill>
                  <a:srgbClr val="CCCCCC"/>
                </a:solidFill>
              </a:rPr>
              <a:t/>
            </a:r>
          </a:p>
          <a:p>
            <a:r>
              <a:rPr sz="1000" b="0">
                <a:solidFill>
                  <a:srgbClr val="CCCCCC"/>
                </a:solidFill>
              </a:rPr>
              <a:t>"Kalau mau aktifkan membership penuh, biaya Rp100.000 sekali saja,"</a:t>
            </a:r>
          </a:p>
          <a:p>
            <a:r>
              <a:rPr sz="1000" b="0">
                <a:solidFill>
                  <a:srgbClr val="CCCCCC"/>
                </a:solidFill>
              </a:rPr>
              <a:t>"langsung dapat 50 poin bonus dan akses semua fitur member."</a:t>
            </a:r>
          </a:p>
          <a:p>
            <a:r>
              <a:rPr sz="1000" b="0">
                <a:solidFill>
                  <a:srgbClr val="CCCCCC"/>
                </a:solidFill>
              </a:rPr>
              <a:t/>
            </a:r>
          </a:p>
          <a:p>
            <a:r>
              <a:rPr sz="1000" b="1">
                <a:solidFill>
                  <a:srgbClr val="CCCCCC"/>
                </a:solidFill>
              </a:rPr>
              <a:t>— Untuk Member Baru (belum pernah ke RedBox) —</a:t>
            </a:r>
          </a:p>
          <a:p>
            <a:r>
              <a:rPr sz="1000" b="0">
                <a:solidFill>
                  <a:srgbClr val="CCCCCC"/>
                </a:solidFill>
              </a:rPr>
              <a:t>"Sebelumnya kakak pernah ke RedBox belum?"</a:t>
            </a:r>
          </a:p>
          <a:p>
            <a:r>
              <a:rPr sz="1000" b="0">
                <a:solidFill>
                  <a:srgbClr val="CCCCCC"/>
                </a:solidFill>
              </a:rPr>
              <a:t>"Belum ya, baik. Kami bantu daftarkan dulu."</a:t>
            </a:r>
          </a:p>
          <a:p>
            <a:r>
              <a:rPr sz="1000" b="0">
                <a:solidFill>
                  <a:srgbClr val="CCCCCC"/>
                </a:solidFill>
              </a:rPr>
              <a:t>"Boleh minta nama lengkap dan nomor WhatsApp-nya?"</a:t>
            </a:r>
          </a:p>
          <a:p>
            <a:r>
              <a:rPr sz="1000" b="0">
                <a:solidFill>
                  <a:srgbClr val="CCCCCC"/>
                </a:solidFill>
              </a:rPr>
              <a:t>"Setelah terdaftar, bisa langsung login via WA untuk cek poin."</a:t>
            </a:r>
          </a:p>
        </p:txBody>
      </p:sp>
      <p:sp>
        <p:nvSpPr>
          <p:cNvPr id="232" name="R232"/>
          <p:cNvSpPr>
            <a:spLocks noGrp="1"/>
          </p:cNvSpPr>
          <p:nvPr/>
        </p:nvSpPr>
        <p:spPr>
          <a:xfrm>
            <a:off x="6300000" y="1420000"/>
            <a:ext cx="5638952" cy="5338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R233"/>
          <p:cNvSpPr>
            <a:spLocks noGrp="1"/>
          </p:cNvSpPr>
          <p:nvPr/>
        </p:nvSpPr>
        <p:spPr>
          <a:xfrm>
            <a:off x="6300000" y="1420000"/>
            <a:ext cx="5638952" cy="580000"/>
          </a:xfrm>
          <a:prstGeom prst="rect">
            <a:avLst/>
          </a:prstGeom>
          <a:solidFill>
            <a:srgbClr val="220044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" name="TextBox 233"/>
          <p:cNvSpPr txBox="1"/>
          <p:nvPr/>
        </p:nvSpPr>
        <p:spPr>
          <a:xfrm>
            <a:off x="6400000" y="1490000"/>
            <a:ext cx="5438952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AFF"/>
                </a:solidFill>
              </a:rPr>
              <a:t>🏆  Sistem Tier &amp; Poin Member</a:t>
            </a:r>
          </a:p>
        </p:txBody>
      </p:sp>
      <p:sp>
        <p:nvSpPr>
          <p:cNvPr id="234" name="R234"/>
          <p:cNvSpPr>
            <a:spLocks noGrp="1"/>
          </p:cNvSpPr>
          <p:nvPr/>
        </p:nvSpPr>
        <p:spPr>
          <a:xfrm>
            <a:off x="6380000" y="2060000"/>
            <a:ext cx="5478952" cy="1129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R235"/>
          <p:cNvSpPr>
            <a:spLocks noGrp="1"/>
          </p:cNvSpPr>
          <p:nvPr/>
        </p:nvSpPr>
        <p:spPr>
          <a:xfrm>
            <a:off x="6380000" y="2060000"/>
            <a:ext cx="14000" cy="112950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TextBox 235"/>
          <p:cNvSpPr txBox="1"/>
          <p:nvPr/>
        </p:nvSpPr>
        <p:spPr>
          <a:xfrm>
            <a:off x="6430000" y="2150360"/>
            <a:ext cx="5358952" cy="47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7F32"/>
                </a:solidFill>
              </a:rPr>
              <a:t>🥉  BRONZE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6430000" y="2602160"/>
            <a:ext cx="5358952" cy="316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DDFF"/>
                </a:solidFill>
              </a:rPr>
              <a:t>0 – 9 kunjungan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430000" y="2895830"/>
            <a:ext cx="5358952" cy="293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Tier awal · akses dasbor &amp; riwayat</a:t>
            </a:r>
          </a:p>
        </p:txBody>
      </p:sp>
      <p:sp>
        <p:nvSpPr>
          <p:cNvPr id="236" name="R236"/>
          <p:cNvSpPr>
            <a:spLocks noGrp="1"/>
          </p:cNvSpPr>
          <p:nvPr/>
        </p:nvSpPr>
        <p:spPr>
          <a:xfrm>
            <a:off x="6380000" y="3249500"/>
            <a:ext cx="5478952" cy="1129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R237"/>
          <p:cNvSpPr>
            <a:spLocks noGrp="1"/>
          </p:cNvSpPr>
          <p:nvPr/>
        </p:nvSpPr>
        <p:spPr>
          <a:xfrm>
            <a:off x="6380000" y="3249500"/>
            <a:ext cx="14000" cy="11295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TextBox 238"/>
          <p:cNvSpPr txBox="1"/>
          <p:nvPr/>
        </p:nvSpPr>
        <p:spPr>
          <a:xfrm>
            <a:off x="6430000" y="3339860"/>
            <a:ext cx="5358952" cy="47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0C0C0"/>
                </a:solidFill>
              </a:rPr>
              <a:t>🥈  SILVER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430000" y="3791660"/>
            <a:ext cx="5358952" cy="316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DDFF"/>
                </a:solidFill>
              </a:rPr>
              <a:t>10 – 24 kunjungan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6430000" y="4085330"/>
            <a:ext cx="5358952" cy="293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Promo eksklusif silver</a:t>
            </a:r>
          </a:p>
        </p:txBody>
      </p:sp>
      <p:sp>
        <p:nvSpPr>
          <p:cNvPr id="238" name="R238"/>
          <p:cNvSpPr>
            <a:spLocks noGrp="1"/>
          </p:cNvSpPr>
          <p:nvPr/>
        </p:nvSpPr>
        <p:spPr>
          <a:xfrm>
            <a:off x="6380000" y="4439000"/>
            <a:ext cx="5478952" cy="1129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R239"/>
          <p:cNvSpPr>
            <a:spLocks noGrp="1"/>
          </p:cNvSpPr>
          <p:nvPr/>
        </p:nvSpPr>
        <p:spPr>
          <a:xfrm>
            <a:off x="6380000" y="4439000"/>
            <a:ext cx="14000" cy="11295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TextBox 241"/>
          <p:cNvSpPr txBox="1"/>
          <p:nvPr/>
        </p:nvSpPr>
        <p:spPr>
          <a:xfrm>
            <a:off x="6430000" y="4529360"/>
            <a:ext cx="5358952" cy="47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700"/>
                </a:solidFill>
              </a:rPr>
              <a:t>🥇  GOLD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430000" y="4981160"/>
            <a:ext cx="5358952" cy="316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DDFF"/>
                </a:solidFill>
              </a:rPr>
              <a:t>25 – 49 kunjungan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430000" y="5274830"/>
            <a:ext cx="5358952" cy="293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Diskon khusus + prioritas booking</a:t>
            </a:r>
          </a:p>
        </p:txBody>
      </p:sp>
      <p:sp>
        <p:nvSpPr>
          <p:cNvPr id="240" name="R240"/>
          <p:cNvSpPr>
            <a:spLocks noGrp="1"/>
          </p:cNvSpPr>
          <p:nvPr/>
        </p:nvSpPr>
        <p:spPr>
          <a:xfrm>
            <a:off x="6380000" y="5628500"/>
            <a:ext cx="5478952" cy="11295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R241"/>
          <p:cNvSpPr>
            <a:spLocks noGrp="1"/>
          </p:cNvSpPr>
          <p:nvPr/>
        </p:nvSpPr>
        <p:spPr>
          <a:xfrm>
            <a:off x="6380000" y="5628500"/>
            <a:ext cx="14000" cy="1129500"/>
          </a:xfrm>
          <a:prstGeom prst="rect">
            <a:avLst/>
          </a:prstGeom>
          <a:solidFill>
            <a:srgbClr val="AAEE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TextBox 244"/>
          <p:cNvSpPr txBox="1"/>
          <p:nvPr/>
        </p:nvSpPr>
        <p:spPr>
          <a:xfrm>
            <a:off x="6430000" y="5718860"/>
            <a:ext cx="5358952" cy="474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EEFF"/>
                </a:solidFill>
              </a:rPr>
              <a:t>💎  PLATINUM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6430000" y="6170660"/>
            <a:ext cx="5358952" cy="316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DDFF"/>
                </a:solidFill>
              </a:rPr>
              <a:t>50+ kunjungan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430000" y="6464330"/>
            <a:ext cx="5358952" cy="293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VIP treatment + promo terbaik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380000" y="6538000"/>
            <a:ext cx="5478952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💡  1 kunjungan = 10 poin · Aktivasi dapat 50 poin bonus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